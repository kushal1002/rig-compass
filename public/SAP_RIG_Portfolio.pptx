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0F2"/>
              </a:solidFill>
              <a:effectLst/>
            </c:spPr>
          </c:dPt>
          <c:dPt>
            <c:idx val="1"/>
            <c:bubble3D val="0"/>
            <c:spPr>
              <a:solidFill>
                <a:srgbClr val="188918"/>
              </a:solidFill>
              <a:effectLst/>
            </c:spPr>
          </c:dPt>
          <c:dPt>
            <c:idx val="2"/>
            <c:bubble3D val="0"/>
            <c:spPr>
              <a:solidFill>
                <a:srgbClr val="CC1919"/>
              </a:solidFill>
              <a:effectLst/>
            </c:spPr>
          </c:dPt>
          <c:dPt>
            <c:idx val="3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 Progress</c:v>
                </c:pt>
                <c:pt idx="1">
                  <c:v>Completed</c:v>
                </c:pt>
                <c:pt idx="2">
                  <c:v>Blocked</c:v>
                </c:pt>
                <c:pt idx="3">
                  <c:v>Not Started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72 Brand"/>
              <a:cs typeface="72 Brand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Completion %</c:v>
                </c:pt>
              </c:strCache>
            </c:strRef>
          </c:tx>
          <c:spPr>
            <a:solidFill>
              <a:srgbClr val="0070F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2A86"/>
                    </a:solidFill>
                    <a:latin typeface="72 Bra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  <c:pt idx="3">
                    <c:v>April</c:v>
                  </c:pt>
                  <c:pt idx="4">
                    <c:v>May</c:v>
                  </c:pt>
                  <c:pt idx="5">
                    <c:v>June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31</c:v>
                </c:pt>
                <c:pt idx="2">
                  <c:v>38</c:v>
                </c:pt>
                <c:pt idx="3">
                  <c:v>45</c:v>
                </c:pt>
                <c:pt idx="4">
                  <c:v>52</c:v>
                </c:pt>
                <c:pt idx="5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2A86"/>
                  </a:solidFill>
                  <a:latin typeface="72 Bra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0160" cap="flat">
              <a:solidFill>
                <a:srgbClr val="E8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Engagements</c:v>
                </c:pt>
              </c:strCache>
            </c:strRef>
          </c:tx>
          <c:spPr>
            <a:solidFill>
              <a:srgbClr val="0070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72 Brand Medium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Utilities</c:v>
                  </c:pt>
                  <c:pt idx="1">
                    <c:v>Professional Services</c:v>
                  </c:pt>
                  <c:pt idx="2">
                    <c:v>Retail</c:v>
                  </c:pt>
                  <c:pt idx="3">
                    <c:v>Manufacturing</c:v>
                  </c:pt>
                  <c:pt idx="4">
                    <c:v>Banking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72 Brand Medium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72 Bra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10160" cap="flat">
              <a:solidFill>
                <a:srgbClr val="E8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Engagements</c:v>
                </c:pt>
              </c:strCache>
            </c:strRef>
          </c:tx>
          <c:spPr>
            <a:solidFill>
              <a:srgbClr val="0070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72 Brand Medium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David Park</c:v>
                  </c:pt>
                  <c:pt idx="1">
                    <c:v>Priya Sharma</c:v>
                  </c:pt>
                  <c:pt idx="2">
                    <c:v>Amir Khan</c:v>
                  </c:pt>
                  <c:pt idx="3">
                    <c:v>Sarah Chen</c:v>
                  </c:pt>
                  <c:pt idx="4">
                    <c:v>Rahul Mehta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72 Brand Medium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72 Bra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b"/>
        <c:majorGridlines>
          <c:spPr>
            <a:ln w="10160" cap="flat">
              <a:solidFill>
                <a:srgbClr val="E8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image" Target="../media/image-6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image" Target="../media/image-8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12" y="320040"/>
            <a:ext cx="768096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912" y="9601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Regional Innovation Group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38912" y="14173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RIG Engagement Portfolio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38912" y="22402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90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Executive Review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38912" y="2944368"/>
            <a:ext cx="4114800" cy="4572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3081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BTP Product Management  |  APJ &amp; Global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88BB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10" name="Image 1" descr="/tmp/sandbox/work/pptx/rig_portfolio/assets/sap_logo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Portfolio Snapshot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All engagements: Joule Agent and Skill on SAP S/4HANA via SAP BTP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1554480" cy="2194560"/>
          </a:xfrm>
          <a:prstGeom prst="rect">
            <a:avLst/>
          </a:prstGeom>
          <a:solidFill>
            <a:srgbClr val="D1EFFF"/>
          </a:solidFill>
          <a:ln w="12700">
            <a:solidFill>
              <a:srgbClr val="CCDD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1554480" cy="54864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2529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14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28600" y="19842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Total Engagements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59736"/>
            <a:ext cx="1097280" cy="1828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5054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+2 this quarter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024128"/>
            <a:ext cx="1554480" cy="2194560"/>
          </a:xfrm>
          <a:prstGeom prst="rect">
            <a:avLst/>
          </a:prstGeom>
          <a:solidFill>
            <a:srgbClr val="D1EFFF"/>
          </a:solidFill>
          <a:ln w="12700">
            <a:solidFill>
              <a:srgbClr val="CCDD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024128"/>
            <a:ext cx="1554480" cy="54864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22529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9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2011680" y="19842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Active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40280" y="2459736"/>
            <a:ext cx="1097280" cy="1828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25054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+1 this month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1024128"/>
            <a:ext cx="1554480" cy="2194560"/>
          </a:xfrm>
          <a:prstGeom prst="rect">
            <a:avLst/>
          </a:prstGeom>
          <a:solidFill>
            <a:srgbClr val="DCFCE7"/>
          </a:solidFill>
          <a:ln w="12700">
            <a:solidFill>
              <a:srgbClr val="CCDD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94760" y="1024128"/>
            <a:ext cx="1554480" cy="54864"/>
          </a:xfrm>
          <a:prstGeom prst="rect">
            <a:avLst/>
          </a:prstGeom>
          <a:solidFill>
            <a:srgbClr val="188918"/>
          </a:solidFill>
          <a:ln w="12700">
            <a:solidFill>
              <a:srgbClr val="1889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22529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188918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3794760" y="19842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2459736"/>
            <a:ext cx="1097280" cy="1828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5054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+3 YTD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024128"/>
            <a:ext cx="1554480" cy="2194560"/>
          </a:xfrm>
          <a:prstGeom prst="rect">
            <a:avLst/>
          </a:prstGeom>
          <a:solidFill>
            <a:srgbClr val="FEE2E2"/>
          </a:solidFill>
          <a:ln w="12700">
            <a:solidFill>
              <a:srgbClr val="CCDD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1024128"/>
            <a:ext cx="1554480" cy="54864"/>
          </a:xfrm>
          <a:prstGeom prst="rect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22529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5577840" y="19842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Blocked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2459736"/>
            <a:ext cx="1097280" cy="1828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5054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191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Needs Attention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60920" y="1024128"/>
            <a:ext cx="1554480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CCDD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60920" y="1024128"/>
            <a:ext cx="1554480" cy="54864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122529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7360920" y="19842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Customers Live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89520" y="2459736"/>
            <a:ext cx="1097280" cy="1828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25054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0F2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Go Live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36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Engagement Status Overview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7724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664208" y="21945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14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664208" y="27066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Total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120640" y="8412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Status Summary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20640" y="1225296"/>
            <a:ext cx="1737360" cy="329184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0" y="12252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Status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0" y="1225296"/>
            <a:ext cx="777240" cy="329184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1225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Count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635240" y="1225296"/>
            <a:ext cx="1188720" cy="329184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35240" y="12252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% of Portfolio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554480"/>
            <a:ext cx="1737360" cy="548640"/>
          </a:xfrm>
          <a:prstGeom prst="rect">
            <a:avLst/>
          </a:prstGeom>
          <a:solidFill>
            <a:srgbClr val="0070F2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858000" y="1554480"/>
            <a:ext cx="77724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15544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9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35240" y="1554480"/>
            <a:ext cx="118872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35240" y="1554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64%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120640" y="2103120"/>
            <a:ext cx="1737360" cy="548640"/>
          </a:xfrm>
          <a:prstGeom prst="rect">
            <a:avLst/>
          </a:prstGeom>
          <a:solidFill>
            <a:srgbClr val="188918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858000" y="2103120"/>
            <a:ext cx="777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21031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8918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635240" y="2103120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35240" y="2103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8918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14%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120640" y="2651760"/>
            <a:ext cx="1737360" cy="548640"/>
          </a:xfrm>
          <a:prstGeom prst="rect">
            <a:avLst/>
          </a:prstGeom>
          <a:solidFill>
            <a:srgbClr val="CC1919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064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Blocked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858000" y="2651760"/>
            <a:ext cx="77724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0" y="26517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635240" y="2651760"/>
            <a:ext cx="118872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35240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14%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120640" y="3200400"/>
            <a:ext cx="1737360" cy="548640"/>
          </a:xfrm>
          <a:prstGeom prst="rect">
            <a:avLst/>
          </a:prstGeom>
          <a:solidFill>
            <a:srgbClr val="6B7280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064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858000" y="3200400"/>
            <a:ext cx="777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0" y="32004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635240" y="3200400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35240" y="3200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14%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39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Full Engagement Portfolio  —  14 Active Engagements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256032" cy="274320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#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" y="731520"/>
            <a:ext cx="1325880" cy="274320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315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Customer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10512" y="731520"/>
            <a:ext cx="2377440" cy="274320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7315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Project / Agent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87952" y="731520"/>
            <a:ext cx="914400" cy="274320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7315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Owner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02352" y="731520"/>
            <a:ext cx="1097280" cy="274320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7315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Industry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99632" y="731520"/>
            <a:ext cx="402336" cy="274320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7315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Reg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01968" y="731520"/>
            <a:ext cx="822960" cy="274320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731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24928" y="731520"/>
            <a:ext cx="530352" cy="274320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73152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Prog.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1005840"/>
            <a:ext cx="25603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00584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" y="1005840"/>
            <a:ext cx="13258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00584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Tata Steel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10512" y="1005840"/>
            <a:ext cx="237744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74520" y="100584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Material Management &amp; Sales Operations Agent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87952" y="1005840"/>
            <a:ext cx="91440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100584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Rahul Mehta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02352" y="1005840"/>
            <a:ext cx="10972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00584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Manufacturing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99632" y="1005840"/>
            <a:ext cx="402336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00584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APJ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01968" y="1005840"/>
            <a:ext cx="822960" cy="251460"/>
          </a:xfrm>
          <a:prstGeom prst="rect">
            <a:avLst/>
          </a:prstGeom>
          <a:solidFill>
            <a:srgbClr val="0070F2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100584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24928" y="1005840"/>
            <a:ext cx="53035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4928" y="100584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70%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1257300"/>
            <a:ext cx="25603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125730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" y="1257300"/>
            <a:ext cx="13258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125730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Wipro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810512" y="1257300"/>
            <a:ext cx="237744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74520" y="125730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Sales Quotation Expiry Assistant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87952" y="1257300"/>
            <a:ext cx="9144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125730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Sarah Chen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02352" y="1257300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125730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Retail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99632" y="1257300"/>
            <a:ext cx="402336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125730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APJ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601968" y="1257300"/>
            <a:ext cx="822960" cy="251460"/>
          </a:xfrm>
          <a:prstGeom prst="rect">
            <a:avLst/>
          </a:prstGeom>
          <a:solidFill>
            <a:srgbClr val="188918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01968" y="125730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Completed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424928" y="1257300"/>
            <a:ext cx="530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24928" y="125730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8918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100%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28600" y="1508760"/>
            <a:ext cx="25603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150876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3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" y="1508760"/>
            <a:ext cx="13258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150876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Accenture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810512" y="1508760"/>
            <a:ext cx="237744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74520" y="150876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Search Agent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87952" y="1508760"/>
            <a:ext cx="91440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150876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Amir Khan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102352" y="1508760"/>
            <a:ext cx="10972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66360" y="150876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Professional Services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99632" y="1508760"/>
            <a:ext cx="402336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9632" y="150876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Global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601968" y="1508760"/>
            <a:ext cx="822960" cy="251460"/>
          </a:xfrm>
          <a:prstGeom prst="rect">
            <a:avLst/>
          </a:prstGeom>
          <a:solidFill>
            <a:srgbClr val="188918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01968" y="150876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Completed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424928" y="1508760"/>
            <a:ext cx="53035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24928" y="150876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8918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100%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28600" y="1760220"/>
            <a:ext cx="25603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" y="176022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4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4632" y="1760220"/>
            <a:ext cx="13258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176022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Mahindra &amp; Mahindra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10512" y="1760220"/>
            <a:ext cx="237744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74520" y="176022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Open Sales Order Read &amp; Delivery Block Agent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187952" y="1760220"/>
            <a:ext cx="9144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51960" y="176022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Priya Sharma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102352" y="1760220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66360" y="176022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Retail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199632" y="1760220"/>
            <a:ext cx="402336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99632" y="176022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APJ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601968" y="1760220"/>
            <a:ext cx="822960" cy="251460"/>
          </a:xfrm>
          <a:prstGeom prst="rect">
            <a:avLst/>
          </a:prstGeom>
          <a:solidFill>
            <a:srgbClr val="0070F2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01968" y="176022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424928" y="1760220"/>
            <a:ext cx="530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24928" y="176022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55%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28600" y="2011680"/>
            <a:ext cx="25603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28600" y="201168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5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84632" y="2011680"/>
            <a:ext cx="13258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" y="201168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DBS Bank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810512" y="2011680"/>
            <a:ext cx="237744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874520" y="201168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Collection Mgmt Dispute Case Creation Agent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187952" y="2011680"/>
            <a:ext cx="91440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251960" y="201168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David Park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102352" y="2011680"/>
            <a:ext cx="10972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66360" y="201168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Banking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199632" y="2011680"/>
            <a:ext cx="402336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99632" y="201168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APJ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601968" y="2011680"/>
            <a:ext cx="822960" cy="251460"/>
          </a:xfrm>
          <a:prstGeom prst="rect">
            <a:avLst/>
          </a:prstGeom>
          <a:solidFill>
            <a:srgbClr val="0070F2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01968" y="201168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424928" y="2011680"/>
            <a:ext cx="53035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24928" y="201168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45%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28600" y="2263140"/>
            <a:ext cx="25603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8600" y="226314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6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84632" y="2263140"/>
            <a:ext cx="13258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48640" y="226314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Standard Chartered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1810512" y="2263140"/>
            <a:ext cx="237744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874520" y="226314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Customer Overdue Receivable Insights Agent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187952" y="2263140"/>
            <a:ext cx="9144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51960" y="226314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Rahul Mehta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102352" y="2263140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66360" y="226314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Banking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6199632" y="2263140"/>
            <a:ext cx="402336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99632" y="226314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APJ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601968" y="2263140"/>
            <a:ext cx="822960" cy="251460"/>
          </a:xfrm>
          <a:prstGeom prst="rect">
            <a:avLst/>
          </a:prstGeom>
          <a:solidFill>
            <a:srgbClr val="0070F2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601968" y="226314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7424928" y="2263140"/>
            <a:ext cx="530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424928" y="226314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80%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228600" y="2514600"/>
            <a:ext cx="25603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28600" y="251460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7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484632" y="2514600"/>
            <a:ext cx="13258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48640" y="251460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Siemens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810512" y="2514600"/>
            <a:ext cx="237744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874520" y="251460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Mass Purchase Order Closure Agent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187952" y="2514600"/>
            <a:ext cx="91440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51960" y="251460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Sarah Chen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102352" y="2514600"/>
            <a:ext cx="10972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166360" y="251460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Manufacturing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6199632" y="2514600"/>
            <a:ext cx="402336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99632" y="251460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Global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6601968" y="2514600"/>
            <a:ext cx="822960" cy="251460"/>
          </a:xfrm>
          <a:prstGeom prst="rect">
            <a:avLst/>
          </a:prstGeom>
          <a:solidFill>
            <a:srgbClr val="0070F2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601968" y="251460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7424928" y="2514600"/>
            <a:ext cx="53035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424928" y="251460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60%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228600" y="2766060"/>
            <a:ext cx="25603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28600" y="276606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8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484632" y="2766060"/>
            <a:ext cx="13258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48640" y="276606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OCBC Bank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1810512" y="2766060"/>
            <a:ext cx="237744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874520" y="276606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Noted Item Creation Agent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4187952" y="2766060"/>
            <a:ext cx="9144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251960" y="276606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Amir Khan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5102352" y="2766060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166360" y="276606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Banking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6199632" y="2766060"/>
            <a:ext cx="402336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199632" y="276606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APJ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6601968" y="2766060"/>
            <a:ext cx="822960" cy="251460"/>
          </a:xfrm>
          <a:prstGeom prst="rect">
            <a:avLst/>
          </a:prstGeom>
          <a:solidFill>
            <a:srgbClr val="CC1919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601968" y="276606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Blocked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7424928" y="2766060"/>
            <a:ext cx="530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424928" y="276606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35%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228600" y="3017520"/>
            <a:ext cx="25603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28600" y="301752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9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484632" y="3017520"/>
            <a:ext cx="13258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48640" y="301752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Deloitte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1810512" y="3017520"/>
            <a:ext cx="237744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874520" y="301752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Security Assistant Agent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4187952" y="3017520"/>
            <a:ext cx="91440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251960" y="301752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Priya Sharma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5102352" y="3017520"/>
            <a:ext cx="10972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166360" y="301752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Professional Services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6199632" y="3017520"/>
            <a:ext cx="402336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199632" y="301752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Global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6601968" y="3017520"/>
            <a:ext cx="822960" cy="251460"/>
          </a:xfrm>
          <a:prstGeom prst="rect">
            <a:avLst/>
          </a:prstGeom>
          <a:solidFill>
            <a:srgbClr val="0070F2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601968" y="301752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7424928" y="3017520"/>
            <a:ext cx="53035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424928" y="301752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65%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228600" y="3268980"/>
            <a:ext cx="25603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228600" y="326898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10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484632" y="3268980"/>
            <a:ext cx="13258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48640" y="326898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Reliance Industries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1810512" y="3268980"/>
            <a:ext cx="237744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874520" y="326898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Update Sales Order Delivery Block Agent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4187952" y="3268980"/>
            <a:ext cx="9144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251960" y="326898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David Park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5102352" y="3268980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5166360" y="326898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Retail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6199632" y="3268980"/>
            <a:ext cx="402336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199632" y="326898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APJ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6601968" y="3268980"/>
            <a:ext cx="822960" cy="251460"/>
          </a:xfrm>
          <a:prstGeom prst="rect">
            <a:avLst/>
          </a:prstGeom>
          <a:solidFill>
            <a:srgbClr val="CC1919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601968" y="326898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Blocked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7424928" y="3268980"/>
            <a:ext cx="530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424928" y="326898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40%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228600" y="3520440"/>
            <a:ext cx="25603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28600" y="352044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11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484632" y="3520440"/>
            <a:ext cx="13258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548640" y="352044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EY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1810512" y="3520440"/>
            <a:ext cx="237744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874520" y="352044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Audit SAP Security Agent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4187952" y="3520440"/>
            <a:ext cx="91440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251960" y="352044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Rahul Mehta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5102352" y="3520440"/>
            <a:ext cx="10972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166360" y="352044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Professional Services</a:t>
            </a:r>
            <a:endParaRPr lang="en-US" sz="800" dirty="0"/>
          </a:p>
        </p:txBody>
      </p:sp>
      <p:sp>
        <p:nvSpPr>
          <p:cNvPr id="190" name="Shape 188"/>
          <p:cNvSpPr/>
          <p:nvPr/>
        </p:nvSpPr>
        <p:spPr>
          <a:xfrm>
            <a:off x="6199632" y="3520440"/>
            <a:ext cx="402336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199632" y="352044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Global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6601968" y="3520440"/>
            <a:ext cx="822960" cy="251460"/>
          </a:xfrm>
          <a:prstGeom prst="rect">
            <a:avLst/>
          </a:prstGeom>
          <a:solidFill>
            <a:srgbClr val="6B7280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601968" y="352044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7424928" y="3520440"/>
            <a:ext cx="53035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7424928" y="352044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0%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228600" y="3771900"/>
            <a:ext cx="25603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28600" y="377190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12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484632" y="3771900"/>
            <a:ext cx="13258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48640" y="377190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HDFC Bank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1810512" y="3771900"/>
            <a:ext cx="237744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1874520" y="377190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Customer Collection Inbound Email Agent</a:t>
            </a:r>
            <a:endParaRPr lang="en-US" sz="800" dirty="0"/>
          </a:p>
        </p:txBody>
      </p:sp>
      <p:sp>
        <p:nvSpPr>
          <p:cNvPr id="202" name="Shape 200"/>
          <p:cNvSpPr/>
          <p:nvPr/>
        </p:nvSpPr>
        <p:spPr>
          <a:xfrm>
            <a:off x="4187952" y="3771900"/>
            <a:ext cx="9144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251960" y="377190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Sarah Chen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5102352" y="3771900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5166360" y="377190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Banking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6199632" y="3771900"/>
            <a:ext cx="402336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199632" y="377190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APJ</a:t>
            </a:r>
            <a:endParaRPr lang="en-US" sz="800" dirty="0"/>
          </a:p>
        </p:txBody>
      </p:sp>
      <p:sp>
        <p:nvSpPr>
          <p:cNvPr id="208" name="Shape 206"/>
          <p:cNvSpPr/>
          <p:nvPr/>
        </p:nvSpPr>
        <p:spPr>
          <a:xfrm>
            <a:off x="6601968" y="3771900"/>
            <a:ext cx="822960" cy="251460"/>
          </a:xfrm>
          <a:prstGeom prst="rect">
            <a:avLst/>
          </a:prstGeom>
          <a:solidFill>
            <a:srgbClr val="0070F2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601968" y="377190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10" name="Shape 208"/>
          <p:cNvSpPr/>
          <p:nvPr/>
        </p:nvSpPr>
        <p:spPr>
          <a:xfrm>
            <a:off x="7424928" y="3771900"/>
            <a:ext cx="530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7424928" y="377190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75%</a:t>
            </a:r>
            <a:endParaRPr lang="en-US" sz="800" dirty="0"/>
          </a:p>
        </p:txBody>
      </p:sp>
      <p:sp>
        <p:nvSpPr>
          <p:cNvPr id="212" name="Shape 210"/>
          <p:cNvSpPr/>
          <p:nvPr/>
        </p:nvSpPr>
        <p:spPr>
          <a:xfrm>
            <a:off x="228600" y="4023360"/>
            <a:ext cx="25603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228600" y="402336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13</a:t>
            </a:r>
            <a:endParaRPr lang="en-US" sz="800" dirty="0"/>
          </a:p>
        </p:txBody>
      </p:sp>
      <p:sp>
        <p:nvSpPr>
          <p:cNvPr id="214" name="Shape 212"/>
          <p:cNvSpPr/>
          <p:nvPr/>
        </p:nvSpPr>
        <p:spPr>
          <a:xfrm>
            <a:off x="484632" y="4023360"/>
            <a:ext cx="13258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48640" y="402336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LG Electronics</a:t>
            </a:r>
            <a:endParaRPr lang="en-US" sz="800" dirty="0"/>
          </a:p>
        </p:txBody>
      </p:sp>
      <p:sp>
        <p:nvSpPr>
          <p:cNvPr id="216" name="Shape 214"/>
          <p:cNvSpPr/>
          <p:nvPr/>
        </p:nvSpPr>
        <p:spPr>
          <a:xfrm>
            <a:off x="1810512" y="4023360"/>
            <a:ext cx="237744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1874520" y="402336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Delivery Fulfillment – Delivery Pick Agent</a:t>
            </a:r>
            <a:endParaRPr lang="en-US" sz="800" dirty="0"/>
          </a:p>
        </p:txBody>
      </p:sp>
      <p:sp>
        <p:nvSpPr>
          <p:cNvPr id="218" name="Shape 216"/>
          <p:cNvSpPr/>
          <p:nvPr/>
        </p:nvSpPr>
        <p:spPr>
          <a:xfrm>
            <a:off x="4187952" y="4023360"/>
            <a:ext cx="91440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251960" y="402336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Amir Khan</a:t>
            </a:r>
            <a:endParaRPr lang="en-US" sz="800" dirty="0"/>
          </a:p>
        </p:txBody>
      </p:sp>
      <p:sp>
        <p:nvSpPr>
          <p:cNvPr id="220" name="Shape 218"/>
          <p:cNvSpPr/>
          <p:nvPr/>
        </p:nvSpPr>
        <p:spPr>
          <a:xfrm>
            <a:off x="5102352" y="4023360"/>
            <a:ext cx="1097280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5166360" y="402336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Manufacturing</a:t>
            </a:r>
            <a:endParaRPr lang="en-US" sz="800" dirty="0"/>
          </a:p>
        </p:txBody>
      </p:sp>
      <p:sp>
        <p:nvSpPr>
          <p:cNvPr id="222" name="Shape 220"/>
          <p:cNvSpPr/>
          <p:nvPr/>
        </p:nvSpPr>
        <p:spPr>
          <a:xfrm>
            <a:off x="6199632" y="4023360"/>
            <a:ext cx="402336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6199632" y="402336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APJ</a:t>
            </a:r>
            <a:endParaRPr lang="en-US" sz="800" dirty="0"/>
          </a:p>
        </p:txBody>
      </p:sp>
      <p:sp>
        <p:nvSpPr>
          <p:cNvPr id="224" name="Shape 222"/>
          <p:cNvSpPr/>
          <p:nvPr/>
        </p:nvSpPr>
        <p:spPr>
          <a:xfrm>
            <a:off x="6601968" y="4023360"/>
            <a:ext cx="822960" cy="251460"/>
          </a:xfrm>
          <a:prstGeom prst="rect">
            <a:avLst/>
          </a:prstGeom>
          <a:solidFill>
            <a:srgbClr val="0070F2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6601968" y="402336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26" name="Shape 224"/>
          <p:cNvSpPr/>
          <p:nvPr/>
        </p:nvSpPr>
        <p:spPr>
          <a:xfrm>
            <a:off x="7424928" y="4023360"/>
            <a:ext cx="530352" cy="251460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7424928" y="402336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50%</a:t>
            </a:r>
            <a:endParaRPr lang="en-US" sz="800" dirty="0"/>
          </a:p>
        </p:txBody>
      </p:sp>
      <p:sp>
        <p:nvSpPr>
          <p:cNvPr id="228" name="Shape 226"/>
          <p:cNvSpPr/>
          <p:nvPr/>
        </p:nvSpPr>
        <p:spPr>
          <a:xfrm>
            <a:off x="228600" y="4274820"/>
            <a:ext cx="25603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228600" y="4274820"/>
            <a:ext cx="2560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14</a:t>
            </a:r>
            <a:endParaRPr lang="en-US" sz="800" dirty="0"/>
          </a:p>
        </p:txBody>
      </p:sp>
      <p:sp>
        <p:nvSpPr>
          <p:cNvPr id="230" name="Shape 228"/>
          <p:cNvSpPr/>
          <p:nvPr/>
        </p:nvSpPr>
        <p:spPr>
          <a:xfrm>
            <a:off x="484632" y="4274820"/>
            <a:ext cx="13258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548640" y="4274820"/>
            <a:ext cx="12618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SP Group</a:t>
            </a:r>
            <a:endParaRPr lang="en-US" sz="800" dirty="0"/>
          </a:p>
        </p:txBody>
      </p:sp>
      <p:sp>
        <p:nvSpPr>
          <p:cNvPr id="232" name="Shape 230"/>
          <p:cNvSpPr/>
          <p:nvPr/>
        </p:nvSpPr>
        <p:spPr>
          <a:xfrm>
            <a:off x="1810512" y="4274820"/>
            <a:ext cx="237744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874520" y="4274820"/>
            <a:ext cx="231343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BPEM Agent</a:t>
            </a:r>
            <a:endParaRPr lang="en-US" sz="800" dirty="0"/>
          </a:p>
        </p:txBody>
      </p:sp>
      <p:sp>
        <p:nvSpPr>
          <p:cNvPr id="234" name="Shape 232"/>
          <p:cNvSpPr/>
          <p:nvPr/>
        </p:nvSpPr>
        <p:spPr>
          <a:xfrm>
            <a:off x="4187952" y="4274820"/>
            <a:ext cx="9144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4251960" y="4274820"/>
            <a:ext cx="85039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Priya Sharma</a:t>
            </a:r>
            <a:endParaRPr lang="en-US" sz="800" dirty="0"/>
          </a:p>
        </p:txBody>
      </p:sp>
      <p:sp>
        <p:nvSpPr>
          <p:cNvPr id="236" name="Shape 234"/>
          <p:cNvSpPr/>
          <p:nvPr/>
        </p:nvSpPr>
        <p:spPr>
          <a:xfrm>
            <a:off x="5102352" y="4274820"/>
            <a:ext cx="10972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5166360" y="4274820"/>
            <a:ext cx="103327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Utilities</a:t>
            </a:r>
            <a:endParaRPr lang="en-US" sz="800" dirty="0"/>
          </a:p>
        </p:txBody>
      </p:sp>
      <p:sp>
        <p:nvSpPr>
          <p:cNvPr id="238" name="Shape 236"/>
          <p:cNvSpPr/>
          <p:nvPr/>
        </p:nvSpPr>
        <p:spPr>
          <a:xfrm>
            <a:off x="6199632" y="4274820"/>
            <a:ext cx="402336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6199632" y="4274820"/>
            <a:ext cx="4023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APJ</a:t>
            </a:r>
            <a:endParaRPr lang="en-US" sz="800" dirty="0"/>
          </a:p>
        </p:txBody>
      </p:sp>
      <p:sp>
        <p:nvSpPr>
          <p:cNvPr id="240" name="Shape 238"/>
          <p:cNvSpPr/>
          <p:nvPr/>
        </p:nvSpPr>
        <p:spPr>
          <a:xfrm>
            <a:off x="6601968" y="4274820"/>
            <a:ext cx="822960" cy="251460"/>
          </a:xfrm>
          <a:prstGeom prst="rect">
            <a:avLst/>
          </a:prstGeom>
          <a:solidFill>
            <a:srgbClr val="6B7280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601968" y="427482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7424928" y="4274820"/>
            <a:ext cx="530352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7424928" y="4274820"/>
            <a:ext cx="53035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0%</a:t>
            </a:r>
            <a:endParaRPr lang="en-US" sz="800" dirty="0"/>
          </a:p>
        </p:txBody>
      </p:sp>
      <p:sp>
        <p:nvSpPr>
          <p:cNvPr id="244" name="Text 242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245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Average Portfolio Progress by Month (2026)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822960"/>
          <a:ext cx="7772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434840"/>
            <a:ext cx="7772400" cy="347472"/>
          </a:xfrm>
          <a:prstGeom prst="rect">
            <a:avLst/>
          </a:prstGeom>
          <a:solidFill>
            <a:srgbClr val="D1E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434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Overall average completion across active engagements:  61%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8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Industry Breakdown  —  Engagements by Sector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822960"/>
            <a:ext cx="2880360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859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Banking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66760" y="85953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80760" y="1097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DBS Bank, Std. Chartered,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OCBC Bank, HDFC Bank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89320" y="1499616"/>
            <a:ext cx="288036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366760" y="1536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080760" y="177393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Tata Steel, Siemens,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LG Electronics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89320" y="2176272"/>
            <a:ext cx="288036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Retail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66760" y="221284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80760" y="2450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Wipro, Mahindra &amp; Mahindra,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Reliance Industries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89320" y="2852928"/>
            <a:ext cx="288036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889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Prof. Services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366760" y="288950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080760" y="31272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Accenture, Deloitte, EY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89320" y="3529584"/>
            <a:ext cx="288036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Utilities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366760" y="35661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080760" y="38039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SP Group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4407408"/>
            <a:ext cx="832104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4074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191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⚠  Banking has highest risk concentration — 2 of 4 banking engagements are Blocked or at risk.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28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Engagements Requiring Immediate Attention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BLOCKED  (2 Engagements)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4206240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CC191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60704"/>
            <a:ext cx="4206240" cy="64008"/>
          </a:xfrm>
          <a:prstGeom prst="rect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60704"/>
            <a:ext cx="64008" cy="1627632"/>
          </a:xfrm>
          <a:prstGeom prst="rect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70432"/>
            <a:ext cx="1005840" cy="228600"/>
          </a:xfrm>
          <a:prstGeom prst="rect">
            <a:avLst/>
          </a:prstGeom>
          <a:solidFill>
            <a:srgbClr val="CC1919"/>
          </a:solidFill>
          <a:ln/>
        </p:spPr>
        <p:txBody>
          <a:bodyPr wrap="square" lIns="12700" tIns="50800" rIns="508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BLOCKED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4632" y="1170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OCBC Bank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Noted Item Creation Agent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Progress: 35%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1938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Blocker: Customer FI configuration for noted items pending sign-off from finance team.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2359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Owner: Amir Khan   |   Deadline: July 30,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27448" y="1060704"/>
            <a:ext cx="4206240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CC191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060704"/>
            <a:ext cx="4206240" cy="64008"/>
          </a:xfrm>
          <a:prstGeom prst="rect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060704"/>
            <a:ext cx="64008" cy="1627632"/>
          </a:xfrm>
          <a:prstGeom prst="rect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170432"/>
            <a:ext cx="1005840" cy="228600"/>
          </a:xfrm>
          <a:prstGeom prst="rect">
            <a:avLst/>
          </a:prstGeom>
          <a:solidFill>
            <a:srgbClr val="CC1919"/>
          </a:solidFill>
          <a:ln/>
        </p:spPr>
        <p:txBody>
          <a:bodyPr wrap="square" lIns="12700" tIns="50800" rIns="508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BLOCKED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1170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Reliance Industries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Update Sales Order Delivery Block Agent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Progress: 40%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1938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Blocker: Dependency on Open Sales Order Read agent — awaiting UAT sign-off before integration testing.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359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Owner: David Park   |   Deadline: August 31,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807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NEAR-DEADLINE  —  Behind Schedule  (Amber Alert)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127248"/>
            <a:ext cx="4206240" cy="15544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127248"/>
            <a:ext cx="4206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127248"/>
            <a:ext cx="64008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236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HDFC Bank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" y="3511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Customer Collection Inbound Email Agent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" y="3785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Progress: 75%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" y="4005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Deadline: July 20, 2026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" y="4224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18 days away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27448" y="3127248"/>
            <a:ext cx="4206240" cy="15544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27448" y="3127248"/>
            <a:ext cx="4206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27448" y="3127248"/>
            <a:ext cx="64008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236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Standard Chartered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92040" y="3511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Customer Overdue Receivable Insights Agent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3785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Progress: 80%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92040" y="4005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Deadline: July 31, 2026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4224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29 days away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41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Consultant Capacity Overview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04672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79392"/>
            <a:ext cx="502920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279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Threshold: Overloaded ≥ 6  |  Balanced 3–5  |  Underutilized &lt;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0" y="8412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Team Summary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15000" y="1188720"/>
            <a:ext cx="1609344" cy="310896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79008" y="118872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Consultant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24344" y="1188720"/>
            <a:ext cx="658368" cy="310896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24344" y="1188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Active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982712" y="1188720"/>
            <a:ext cx="914400" cy="310896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82712" y="11887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Status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15000" y="1499616"/>
            <a:ext cx="1609344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79008" y="1499616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Rahul Mehta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324344" y="1499616"/>
            <a:ext cx="658368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24344" y="149961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82712" y="1499616"/>
            <a:ext cx="914400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82712" y="1499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Balanced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15000" y="1975104"/>
            <a:ext cx="1609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79008" y="1975104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Sarah Chen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324344" y="1975104"/>
            <a:ext cx="6583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24344" y="197510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82712" y="1975104"/>
            <a:ext cx="914400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82712" y="197510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Balanced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15000" y="2450592"/>
            <a:ext cx="1609344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79008" y="2450592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Amir Khan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324344" y="2450592"/>
            <a:ext cx="658368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24344" y="245059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982712" y="2450592"/>
            <a:ext cx="914400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82712" y="24505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Balanced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715000" y="2926080"/>
            <a:ext cx="1609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79008" y="2926080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Priya Sharma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324344" y="2926080"/>
            <a:ext cx="6583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24344" y="292608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982712" y="2926080"/>
            <a:ext cx="914400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82712" y="29260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Balanced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715000" y="3401568"/>
            <a:ext cx="1609344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779008" y="3401568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David Park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324344" y="3401568"/>
            <a:ext cx="658368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324344" y="340156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7982712" y="3401568"/>
            <a:ext cx="914400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982712" y="34015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Balanced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715000" y="3968496"/>
            <a:ext cx="1417320" cy="685800"/>
          </a:xfrm>
          <a:prstGeom prst="rect">
            <a:avLst/>
          </a:prstGeom>
          <a:solidFill>
            <a:srgbClr val="D1E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15000" y="40050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5</a:t>
            </a:r>
            <a:endParaRPr lang="en-US" sz="2200" dirty="0"/>
          </a:p>
        </p:txBody>
      </p:sp>
      <p:sp>
        <p:nvSpPr>
          <p:cNvPr id="46" name="Text 43"/>
          <p:cNvSpPr/>
          <p:nvPr/>
        </p:nvSpPr>
        <p:spPr>
          <a:xfrm>
            <a:off x="5715000" y="43525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Total Consultants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7315200" y="3968496"/>
            <a:ext cx="1417320" cy="685800"/>
          </a:xfrm>
          <a:prstGeom prst="rect">
            <a:avLst/>
          </a:prstGeom>
          <a:solidFill>
            <a:srgbClr val="D1E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15200" y="40050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2.6</a:t>
            </a:r>
            <a:endParaRPr lang="en-US" sz="2200" dirty="0"/>
          </a:p>
        </p:txBody>
      </p:sp>
      <p:sp>
        <p:nvSpPr>
          <p:cNvPr id="49" name="Text 46"/>
          <p:cNvSpPr/>
          <p:nvPr/>
        </p:nvSpPr>
        <p:spPr>
          <a:xfrm>
            <a:off x="7315200" y="43525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Avg. Engagements / Person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51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1A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Delivered to Customers  —  Completed Engagements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AA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73152"/>
          </a:xfrm>
          <a:prstGeom prst="rect">
            <a:avLst/>
          </a:prstGeom>
          <a:solidFill>
            <a:srgbClr val="188918"/>
          </a:solidFill>
          <a:ln w="12700">
            <a:solidFill>
              <a:srgbClr val="1889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3977640"/>
          </a:xfrm>
          <a:prstGeom prst="rect">
            <a:avLst/>
          </a:prstGeom>
          <a:solidFill>
            <a:srgbClr val="188918"/>
          </a:solidFill>
          <a:ln w="12700">
            <a:solidFill>
              <a:srgbClr val="1889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32688"/>
            <a:ext cx="457200" cy="457200"/>
          </a:xfrm>
          <a:prstGeom prst="ellipse">
            <a:avLst/>
          </a:prstGeom>
          <a:solidFill>
            <a:srgbClr val="188918"/>
          </a:solidFill>
          <a:ln w="12700">
            <a:solidFill>
              <a:srgbClr val="1889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9326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8918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Wipro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" y="1463040"/>
            <a:ext cx="393192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4630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1A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Sales Quotation Expiry Assistant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1847088"/>
            <a:ext cx="3931920" cy="1645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Successfully deployed to production environment.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Fetches sales quotations nearing expiry from SAP S/4HANA via Joule.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Reduces manual tracking effort and improves sales team response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3621024"/>
            <a:ext cx="393192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75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Region: APJ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Owner:  Sarah Chen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27448" y="804672"/>
            <a:ext cx="42062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AA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804672"/>
            <a:ext cx="4206240" cy="73152"/>
          </a:xfrm>
          <a:prstGeom prst="rect">
            <a:avLst/>
          </a:prstGeom>
          <a:solidFill>
            <a:srgbClr val="188918"/>
          </a:solidFill>
          <a:ln w="12700">
            <a:solidFill>
              <a:srgbClr val="1889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804672"/>
            <a:ext cx="73152" cy="3977640"/>
          </a:xfrm>
          <a:prstGeom prst="rect">
            <a:avLst/>
          </a:prstGeom>
          <a:solidFill>
            <a:srgbClr val="188918"/>
          </a:solidFill>
          <a:ln w="12700">
            <a:solidFill>
              <a:srgbClr val="1889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0328" y="932688"/>
            <a:ext cx="457200" cy="457200"/>
          </a:xfrm>
          <a:prstGeom prst="ellipse">
            <a:avLst/>
          </a:prstGeom>
          <a:solidFill>
            <a:srgbClr val="188918"/>
          </a:solidFill>
          <a:ln w="12700">
            <a:solidFill>
              <a:srgbClr val="1889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04688" y="9326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8918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Accenture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92040" y="1463040"/>
            <a:ext cx="393192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4630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1A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SAP Search 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847088"/>
            <a:ext cx="3931920" cy="1645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Enables real-time SAP knowledge search via Joule embedded in S/4HANA.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Reduces research time and improves team productivity significantly.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Reusable pattern; potential for broader rollout across consulting practices.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621024"/>
            <a:ext cx="393192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3675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Region: Global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01768" y="39319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Owner:  Amir Khan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29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Portfolio Intelligence Highlights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Powered by SAP Business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600200"/>
          </a:xfrm>
          <a:prstGeom prst="rect">
            <a:avLst/>
          </a:prstGeom>
          <a:solidFill>
            <a:srgbClr val="FFE4E4"/>
          </a:solidFill>
          <a:ln w="12700">
            <a:solidFill>
              <a:srgbClr val="CC191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1600200"/>
          </a:xfrm>
          <a:prstGeom prst="rect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97280"/>
            <a:ext cx="658368" cy="201168"/>
          </a:xfrm>
          <a:prstGeom prst="rect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HIGH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43000" y="1097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1919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RISK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2 engagements currently blocked and require immediate attention.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OCBC Bank &amp; Reliance Industries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743200" cy="1600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05840"/>
            <a:ext cx="54864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097280"/>
            <a:ext cx="6583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097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14800" y="1097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TIMELINE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35331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2 projects approaching deadline — risk of delay without intervention.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05740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HDFC Bank &amp; Standard Chartered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2743200" cy="1600200"/>
          </a:xfrm>
          <a:prstGeom prst="rect">
            <a:avLst/>
          </a:prstGeom>
          <a:solidFill>
            <a:srgbClr val="DBEAFE"/>
          </a:solidFill>
          <a:ln w="12700">
            <a:solidFill>
              <a:srgbClr val="007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005840"/>
            <a:ext cx="54864" cy="160020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097280"/>
            <a:ext cx="658368" cy="20116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097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MEDIUM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86600" y="1097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135331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Banking customers have highest engagement volume — 4 active projects.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205740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DBS Bank, Std. Chartered, OCBC Bank, HDFC Bank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64792" y="2743200"/>
            <a:ext cx="2743200" cy="1600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8891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764792" y="2743200"/>
            <a:ext cx="54864" cy="1600200"/>
          </a:xfrm>
          <a:prstGeom prst="rect">
            <a:avLst/>
          </a:prstGeom>
          <a:solidFill>
            <a:srgbClr val="188918"/>
          </a:solidFill>
          <a:ln w="12700">
            <a:solidFill>
              <a:srgbClr val="1889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1952" y="2834640"/>
            <a:ext cx="658368" cy="201168"/>
          </a:xfrm>
          <a:prstGeom prst="rect">
            <a:avLst/>
          </a:prstGeom>
          <a:solidFill>
            <a:srgbClr val="188918"/>
          </a:solidFill>
          <a:ln w="12700">
            <a:solidFill>
              <a:srgbClr val="1889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01952" y="28346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LOW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33472" y="2834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8918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01952" y="309067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Average project completion rate across active engagements is 61%.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901952" y="37947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Steady month-over-month growth since January 2026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2743200"/>
            <a:ext cx="2743200" cy="1600200"/>
          </a:xfrm>
          <a:prstGeom prst="rect">
            <a:avLst/>
          </a:prstGeom>
          <a:solidFill>
            <a:srgbClr val="DBEAFE"/>
          </a:solidFill>
          <a:ln w="12700">
            <a:solidFill>
              <a:srgbClr val="0070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2743200"/>
            <a:ext cx="54864" cy="160020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3752" y="2834640"/>
            <a:ext cx="658368" cy="20116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8346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LOW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605272" y="2834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DELIVERY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73752" y="309067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2 engagements near completion (75%+) — plan knowledge transfer now.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73752" y="37947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HDFC Bank (75%), Standard Chartered (80%)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41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Recommended Actions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773936"/>
          </a:xfrm>
          <a:prstGeom prst="rect">
            <a:avLst/>
          </a:prstGeom>
          <a:solidFill>
            <a:srgbClr val="FEE2E2"/>
          </a:solidFill>
          <a:ln w="19050">
            <a:solidFill>
              <a:srgbClr val="CC19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310896"/>
          </a:xfrm>
          <a:prstGeom prst="rect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CRITICAL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" y="1170432"/>
            <a:ext cx="274320" cy="274320"/>
          </a:xfrm>
          <a:prstGeom prst="ellipse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1430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Escalate 2 blocked engagements (OCBC Bank, Reliance Industries) with immediate stakeholder review.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" y="1810512"/>
            <a:ext cx="274320" cy="274320"/>
          </a:xfrm>
          <a:prstGeom prst="ellipse">
            <a:avLst/>
          </a:prstGeom>
          <a:solidFill>
            <a:srgbClr val="CC1919"/>
          </a:solidFill>
          <a:ln w="12700">
            <a:solidFill>
              <a:srgbClr val="CC19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783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Conduct risk review for HDFC Bank and Standard Chartered — deadlines within 30 days.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777240"/>
            <a:ext cx="2926080" cy="2414016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777240"/>
            <a:ext cx="292608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77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74136" y="1170432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21608" y="1143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Resolve OCBC Bank FI configuration blocker — schedule finance team sign-off meeting within 48 hours.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74136" y="1810512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21608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Complete Reliance Industries dependency (Open Sales Order Read UAT) to unblock integration testing.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74136" y="2450592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21608" y="2423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Begin knowledge transfer and Go Live documentation for near-complete engagements.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777240"/>
            <a:ext cx="2743200" cy="1773936"/>
          </a:xfrm>
          <a:prstGeom prst="rect">
            <a:avLst/>
          </a:prstGeom>
          <a:solidFill>
            <a:srgbClr val="D1EFFF"/>
          </a:solidFill>
          <a:ln w="19050">
            <a:solidFill>
              <a:srgbClr val="002A8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777240"/>
            <a:ext cx="2743200" cy="310896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777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STANDARD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91656" y="1170432"/>
            <a:ext cx="274320" cy="274320"/>
          </a:xfrm>
          <a:prstGeom prst="ellipse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39128" y="11430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Schedule quarterly portfolio review with regional APJ leadership.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91656" y="1810512"/>
            <a:ext cx="274320" cy="274320"/>
          </a:xfrm>
          <a:prstGeom prst="ellipse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39128" y="1783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Explore expansion opportunities with Wipro and Accenture (completed customers).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35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A86"/>
          </a:solidFill>
          <a:ln w="12700">
            <a:solidFill>
              <a:srgbClr val="00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Engagements Starting Soon  —  Pipeline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Not Started engagements scheduled for onboarding in Q3 2026: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88720" cy="347472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15568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Customer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54480" y="1115568"/>
            <a:ext cx="2651760" cy="347472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8488" y="1115568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Project / Agent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0" y="1115568"/>
            <a:ext cx="1097280" cy="347472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0248" y="11155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Owner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0" y="1115568"/>
            <a:ext cx="1234440" cy="347472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1155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Start Date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37960" y="1115568"/>
            <a:ext cx="1234440" cy="347472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1155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End 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0" y="1115568"/>
            <a:ext cx="1005840" cy="347472"/>
          </a:xfrm>
          <a:prstGeom prst="rect">
            <a:avLst/>
          </a:prstGeom>
          <a:solidFill>
            <a:srgbClr val="002A86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155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463040"/>
            <a:ext cx="11887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1463040"/>
            <a:ext cx="1124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EY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54480" y="1463040"/>
            <a:ext cx="265176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18488" y="1463040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Audit SAP Security Agent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06240" y="1463040"/>
            <a:ext cx="109728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0248" y="146304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Rahul Mehta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03520" y="1463040"/>
            <a:ext cx="1234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4630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0F2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July 1, 2026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37960" y="1463040"/>
            <a:ext cx="1234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4630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0F2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December 31, 2026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72400" y="1463040"/>
            <a:ext cx="1005840" cy="530352"/>
          </a:xfrm>
          <a:prstGeom prst="rect">
            <a:avLst/>
          </a:prstGeom>
          <a:solidFill>
            <a:srgbClr val="6B7280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1993392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1993392"/>
            <a:ext cx="1124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SP Group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554480" y="1993392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18488" y="1993392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BPEM Agent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06240" y="1993392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70248" y="1993392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Priya Sharma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03520" y="1993392"/>
            <a:ext cx="1234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199339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0F2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July 15, 2026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37960" y="1993392"/>
            <a:ext cx="1234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199339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0F2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January 15, 2027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772400" y="1993392"/>
            <a:ext cx="1005840" cy="530352"/>
          </a:xfrm>
          <a:prstGeom prst="rect">
            <a:avLst/>
          </a:prstGeom>
          <a:solidFill>
            <a:srgbClr val="6B7280"/>
          </a:solidFill>
          <a:ln w="6350">
            <a:solidFill>
              <a:srgbClr val="D5E5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19933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2615184"/>
            <a:ext cx="8412480" cy="475488"/>
          </a:xfrm>
          <a:prstGeom prst="rect">
            <a:avLst/>
          </a:prstGeom>
          <a:solidFill>
            <a:srgbClr val="D1EFFF"/>
          </a:solidFill>
          <a:ln w="10160">
            <a:solidFill>
              <a:srgbClr val="0070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61518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Note — EY: Engagement confirmed — awaiting environment access.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3236976"/>
            <a:ext cx="8412480" cy="475488"/>
          </a:xfrm>
          <a:prstGeom prst="rect">
            <a:avLst/>
          </a:prstGeom>
          <a:solidFill>
            <a:srgbClr val="D1EFFF"/>
          </a:solidFill>
          <a:ln w="10160">
            <a:solidFill>
              <a:srgbClr val="0070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2369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Note — SP Group: Pending access to customer SAP S/4HANA Utilities sandbox.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005072"/>
            <a:ext cx="841248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AEC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050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Both engagements are type: Joule Agent and Skill on SAP S/4HANA via SAP BTP  |  Region: APJ &amp; Global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48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work/pptx/rig_portfolio/assets/sap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12" y="320040"/>
            <a:ext cx="768096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" y="1005840"/>
            <a:ext cx="54864" cy="292608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05156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58368" y="21031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BTP Product Management – APJ Team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5420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Regional Innovation Group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" y="2980944"/>
            <a:ext cx="3657600" cy="36576"/>
          </a:xfrm>
          <a:prstGeom prst="rect">
            <a:avLst/>
          </a:prstGeom>
          <a:solidFill>
            <a:srgbClr val="1B90FF"/>
          </a:solidFill>
          <a:ln w="12700">
            <a:solidFill>
              <a:srgbClr val="1B9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Questions? Reach out to the RIG Team on SAP Internal channels.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0F2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www.sap.com/btp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88BB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RIG Project Tooling  |  Confidential</a:t>
            </a:r>
            <a:endParaRPr lang="en-US" sz="800" dirty="0"/>
          </a:p>
        </p:txBody>
      </p:sp>
      <p:pic>
        <p:nvPicPr>
          <p:cNvPr id="11" name="Image 1" descr="/tmp/sandbox/work/pptx/rig_portfolio/assets/sap_logo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1040" y="4727448"/>
            <a:ext cx="667512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RIG Engagement Portfolio – Executive Review</dc:title>
  <dc:subject>PptxGenJS Presentation</dc:subject>
  <dc:creator>SAP Regional Innovation Group</dc:creator>
  <cp:lastModifiedBy>SAP Regional Innovation Group</cp:lastModifiedBy>
  <cp:revision>1</cp:revision>
  <dcterms:created xsi:type="dcterms:W3CDTF">2026-07-02T05:24:37Z</dcterms:created>
  <dcterms:modified xsi:type="dcterms:W3CDTF">2026-07-02T05:24:37Z</dcterms:modified>
</cp:coreProperties>
</file>